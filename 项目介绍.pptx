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62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D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474720" y="914400"/>
            <a:ext cx="1828800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27432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" y="41148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0" y="5029200"/>
            <a:ext cx="2286000" cy="228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943600" y="73152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657600" y="457200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泉到家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4B8A6"/>
                </a:solidFill>
                <a:latin typeface="Microsoft YaHei"/>
              </a:defRPr>
            </a:pPr>
            <a:r>
              <a:t>桶装水配送商城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Microsoft YaHei"/>
              </a:defRPr>
            </a:pPr>
            <a:r>
              <a:t>基于 Spring Boot 3 + Vue 3 的全栈电商配送解决方案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63093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让公司和家庭的每一桶水，都能准时送到门口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F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3D62"/>
                </a:solidFill>
                <a:latin typeface="Microsoft YaHei"/>
              </a:defRPr>
            </a:pPr>
            <a:r>
              <a:t>项目背景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泉到家 - 桶装水配送商城  |  让每一桶水准时送达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rPr dirty="0" err="1"/>
              <a:t>传统桶装水行业的五大核心痛点</a:t>
            </a:r>
            <a:endParaRPr dirty="0"/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rPr dirty="0"/>
              <a:t>  ✖ </a:t>
            </a:r>
            <a:r>
              <a:rPr dirty="0" err="1"/>
              <a:t>下单方式落后</a:t>
            </a:r>
            <a:r>
              <a:rPr dirty="0"/>
              <a:t> — </a:t>
            </a:r>
            <a:r>
              <a:rPr dirty="0" err="1"/>
              <a:t>电话</a:t>
            </a:r>
            <a:r>
              <a:rPr dirty="0"/>
              <a:t>/</a:t>
            </a:r>
            <a:r>
              <a:rPr dirty="0" err="1"/>
              <a:t>微信人工下单，效率低下，易出错</a:t>
            </a:r>
            <a:endParaRPr dirty="0"/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rPr dirty="0"/>
              <a:t>  ✖ </a:t>
            </a:r>
            <a:r>
              <a:rPr dirty="0" err="1"/>
              <a:t>配送调度粗放</a:t>
            </a:r>
            <a:r>
              <a:rPr dirty="0"/>
              <a:t> — </a:t>
            </a:r>
            <a:r>
              <a:rPr dirty="0" err="1"/>
              <a:t>无系统化派单机制，路线不优化</a:t>
            </a:r>
            <a:endParaRPr dirty="0"/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rPr dirty="0"/>
              <a:t>  ✖ </a:t>
            </a:r>
            <a:r>
              <a:rPr dirty="0" err="1"/>
              <a:t>空桶管理混乱</a:t>
            </a:r>
            <a:r>
              <a:rPr dirty="0"/>
              <a:t> — </a:t>
            </a:r>
            <a:r>
              <a:rPr dirty="0" err="1"/>
              <a:t>桶押金和回收无系统记录，纠纷频发</a:t>
            </a:r>
            <a:endParaRPr dirty="0"/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rPr dirty="0"/>
              <a:t>  ✖ </a:t>
            </a:r>
            <a:r>
              <a:rPr dirty="0" err="1"/>
              <a:t>缺乏营销工具</a:t>
            </a:r>
            <a:r>
              <a:rPr dirty="0"/>
              <a:t> — </a:t>
            </a:r>
            <a:r>
              <a:rPr dirty="0" err="1"/>
              <a:t>无优惠券</a:t>
            </a:r>
            <a:r>
              <a:rPr dirty="0"/>
              <a:t>/</a:t>
            </a:r>
            <a:r>
              <a:rPr dirty="0" err="1"/>
              <a:t>积分等数字化营销手段</a:t>
            </a:r>
            <a:endParaRPr dirty="0"/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rPr dirty="0"/>
              <a:t>  ✖ </a:t>
            </a:r>
            <a:r>
              <a:rPr dirty="0" err="1"/>
              <a:t>数据运营缺失</a:t>
            </a:r>
            <a:r>
              <a:rPr dirty="0"/>
              <a:t> — </a:t>
            </a:r>
            <a:r>
              <a:rPr dirty="0" err="1"/>
              <a:t>无法实时掌握销售趋势和配送效率</a:t>
            </a:r>
            <a:endParaRPr dirty="0"/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endParaRPr dirty="0"/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目标用户群体</a:t>
            </a:r>
            <a:endParaRPr dirty="0"/>
          </a:p>
          <a:p>
            <a:pPr lvl="2">
              <a:spcAft>
                <a:spcPts val="10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rPr dirty="0"/>
              <a:t>  🏠 </a:t>
            </a:r>
            <a:r>
              <a:rPr dirty="0" err="1"/>
              <a:t>家庭用户</a:t>
            </a:r>
            <a:r>
              <a:rPr dirty="0"/>
              <a:t>  |  🏢 </a:t>
            </a:r>
            <a:r>
              <a:rPr dirty="0" err="1"/>
              <a:t>企业办公室</a:t>
            </a:r>
            <a:r>
              <a:rPr dirty="0"/>
              <a:t>  |  🏗 </a:t>
            </a:r>
            <a:r>
              <a:rPr dirty="0" err="1"/>
              <a:t>学校</a:t>
            </a:r>
            <a:r>
              <a:rPr dirty="0"/>
              <a:t>/</a:t>
            </a:r>
            <a:r>
              <a:rPr dirty="0" err="1"/>
              <a:t>工地等团体客户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8503920" y="1463040"/>
            <a:ext cx="3017520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0" y="16002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F4444"/>
                </a:solidFill>
                <a:latin typeface="Microsoft YaHei"/>
              </a:defRPr>
            </a:pPr>
            <a:r>
              <a:t>📞 效率低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1488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传统电话下单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2834640"/>
            <a:ext cx="3017520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29718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9E0B"/>
                </a:solidFill>
                <a:latin typeface="Microsoft YaHei"/>
              </a:defRPr>
            </a:pPr>
            <a:r>
              <a:t>📊 不足 15%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520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行业数字化率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4206240"/>
            <a:ext cx="3017520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0" y="4325113"/>
            <a:ext cx="283808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0B981"/>
                </a:solidFill>
                <a:latin typeface="Microsoft YaHei"/>
              </a:defRPr>
            </a:pPr>
            <a:r>
              <a:rPr dirty="0"/>
              <a:t>🎯 </a:t>
            </a:r>
            <a:r>
              <a:rPr lang="en-US" dirty="0"/>
              <a:t> </a:t>
            </a:r>
            <a:r>
              <a:rPr dirty="0" err="1"/>
              <a:t>全链路数</a:t>
            </a:r>
            <a:r>
              <a:rPr lang="en-US" dirty="0"/>
              <a:t>		 </a:t>
            </a:r>
            <a:r>
              <a:rPr dirty="0" err="1"/>
              <a:t>字化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8686800" y="48920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rPr dirty="0" err="1"/>
              <a:t>本项目目标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F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3D62"/>
                </a:solidFill>
                <a:latin typeface="Microsoft YaHei"/>
              </a:defRPr>
            </a:pPr>
            <a:r>
              <a:t>核心价值主张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泉到家 - 桶装水配送商城  |  让每一桶水准时送达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3383280" cy="45720"/>
          </a:xfrm>
          <a:prstGeom prst="rect">
            <a:avLst/>
          </a:prstGeom>
          <a:solidFill>
            <a:srgbClr val="0F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6002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3D62"/>
                </a:solidFill>
                <a:latin typeface="Microsoft YaHei"/>
              </a:defRPr>
            </a:pPr>
            <a:r>
              <a:t>📱  全渠道下单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PC + H5 + 小程序</a:t>
            </a:r>
            <a:br/>
            <a:r>
              <a:t>随时随地轻松购水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371600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59" y="1371600"/>
            <a:ext cx="338328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79" y="16002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3D62"/>
                </a:solidFill>
                <a:latin typeface="Microsoft YaHei"/>
              </a:defRPr>
            </a:pPr>
            <a:r>
              <a:t>🚚  智能配送调度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2860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配送员端接单/导航/签收</a:t>
            </a:r>
            <a:br/>
            <a:r>
              <a:t>状态实时可追踪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371600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1371600"/>
            <a:ext cx="3383280" cy="45720"/>
          </a:xfrm>
          <a:prstGeom prst="rect">
            <a:avLst/>
          </a:prstGeom>
          <a:solidFill>
            <a:srgbClr val="0F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0" y="16002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3D62"/>
                </a:solidFill>
                <a:latin typeface="Microsoft YaHei"/>
              </a:defRPr>
            </a:pPr>
            <a:r>
              <a:t>🪣  空桶回收闭环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2860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押金自动计算</a:t>
            </a:r>
            <a:br/>
            <a:r>
              <a:t>回收自动抵扣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31920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3931920"/>
            <a:ext cx="338328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41605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3D62"/>
                </a:solidFill>
                <a:latin typeface="Microsoft YaHei"/>
              </a:defRPr>
            </a:pPr>
            <a:r>
              <a:t>💰  双轨营销体系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84632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优惠券 + 会员积分</a:t>
            </a:r>
            <a:br/>
            <a:r>
              <a:t>拉新复购双驱动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3931920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80559" y="3931920"/>
            <a:ext cx="3383280" cy="45720"/>
          </a:xfrm>
          <a:prstGeom prst="rect">
            <a:avLst/>
          </a:prstGeom>
          <a:solidFill>
            <a:srgbClr val="0F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79" y="41605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3D62"/>
                </a:solidFill>
                <a:latin typeface="Microsoft YaHei"/>
              </a:defRPr>
            </a:pPr>
            <a:r>
              <a:t>📊  数据驱动运营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79" y="484632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实时看板 + 库存预警</a:t>
            </a:r>
            <a:br/>
            <a:r>
              <a:t>7日趋势一目了然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931920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29600" y="3931920"/>
            <a:ext cx="338328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03920" y="41605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3D62"/>
                </a:solidFill>
                <a:latin typeface="Microsoft YaHei"/>
              </a:defRPr>
            </a:pPr>
            <a:r>
              <a:t>🔐  安全权限管控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84632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RBAC五表模型</a:t>
            </a:r>
            <a:br/>
            <a:r>
              <a:t>按钮级权限控制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F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3D62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泉到家 - 桶装水配送商城  |  让每一桶水准时送达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A3D62"/>
                </a:solidFill>
                <a:latin typeface="Microsoft YaHei"/>
              </a:defRPr>
            </a:pPr>
            <a:r>
              <a:t>🔧 后端技术栈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6CBF"/>
                </a:solidFill>
                <a:latin typeface="Microsoft YaHei"/>
              </a:defRPr>
            </a:pPr>
            <a:r>
              <a:t>Spring Boot 3.2.5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042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核心框架 — 自动配置，快速开发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6CBF"/>
                </a:solidFill>
                <a:latin typeface="Microsoft YaHei"/>
              </a:defRPr>
            </a:pPr>
            <a:r>
              <a:t>MyBatis-Plus 3.5.6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358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ORM — Lambda查询，零XML配置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74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6CBF"/>
                </a:solidFill>
                <a:latin typeface="Microsoft YaHei"/>
              </a:defRPr>
            </a:pPr>
            <a:r>
              <a:t>MySQL 8.0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673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数据库 — 18张表，ACID事务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6CBF"/>
                </a:solidFill>
                <a:latin typeface="Microsoft YaHei"/>
              </a:defRPr>
            </a:pPr>
            <a:r>
              <a:t>JJWT 0.12.5 + BCrypt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988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安全 — 无状态JWT，自适应盐值加密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37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6CBF"/>
                </a:solidFill>
                <a:latin typeface="Microsoft YaHei"/>
              </a:defRPr>
            </a:pPr>
            <a:r>
              <a:t>Knife4j 4.5.0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303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文档 — OpenAPI 3.0 可视化接口调试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69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6CBF"/>
                </a:solidFill>
                <a:latin typeface="Microsoft YaHei"/>
              </a:defRPr>
            </a:pPr>
            <a:r>
              <a:t>RBAC 5表模型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9618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权限 — 用户→角色→菜单，注解驱动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A3D62"/>
                </a:solidFill>
                <a:latin typeface="Microsoft YaHei"/>
              </a:defRPr>
            </a:pPr>
            <a:r>
              <a:t>🎨 前端技术栈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011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Microsoft YaHei"/>
              </a:defRPr>
            </a:pPr>
            <a:r>
              <a:t>Vue 3.5 + Vite 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3042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渐进式框架 + 极速构建工具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743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Microsoft YaHei"/>
              </a:defRPr>
            </a:pPr>
            <a:r>
              <a:t>Element Plus 2.11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0358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企业级UI组件库 — 中文生态友好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474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Microsoft YaHei"/>
              </a:defRPr>
            </a:pPr>
            <a:r>
              <a:t>Pinia 3.0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7673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轻量级状态管理 — Vue3官方推荐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206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Microsoft YaHei"/>
              </a:defRPr>
            </a:pPr>
            <a:r>
              <a:t>Vue Router 4.6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4988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SPA路由 — 三层导航守卫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937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Microsoft YaHei"/>
              </a:defRPr>
            </a:pPr>
            <a:r>
              <a:t>ECharts + vue-echarts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52303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数据可视化 — 折线图/饼图/表格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669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Microsoft YaHei"/>
              </a:defRPr>
            </a:pPr>
            <a:r>
              <a:t>Axios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9618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HTTP通信 — 拦截器自动Token注入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60" y="1371600"/>
            <a:ext cx="18288" cy="4846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F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3D62"/>
                </a:solidFill>
                <a:latin typeface="Microsoft YaHei"/>
              </a:defRPr>
            </a:pPr>
            <a:r>
              <a:t>系统功能全景图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泉到家 - 桶装水配送商城  |  让每一桶水准时送达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2651760" cy="640080"/>
          </a:xfrm>
          <a:prstGeom prst="roundRect">
            <a:avLst/>
          </a:prstGeom>
          <a:solidFill>
            <a:srgbClr val="0F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5361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🏠 用户商城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77440"/>
            <a:ext cx="26517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•  注册 / 登录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07792"/>
            <a:ext cx="26517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9535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•  商品浏览与搜索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38144"/>
            <a:ext cx="26517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48386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•  购物车管理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68496"/>
            <a:ext cx="26517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0142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•  下单结算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98848"/>
            <a:ext cx="26517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544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•  订单跟踪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029200"/>
            <a:ext cx="26517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50749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•  地址管理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559552"/>
            <a:ext cx="26517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6052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•  个人中心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1463040"/>
            <a:ext cx="2651760" cy="640080"/>
          </a:xfrm>
          <a:prstGeom prst="round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11880" y="15361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🖥 管理后台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2377440"/>
            <a:ext cx="26517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11880" y="24231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•  数据可视化看板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9000" y="2907792"/>
            <a:ext cx="26517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11880" y="29535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•  商品 / 分类管理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29000" y="3438144"/>
            <a:ext cx="26517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11880" y="348386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•  用户 / 订单管理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29000" y="3968496"/>
            <a:ext cx="26517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11880" y="40142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•  配送人员 / 任务管理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29000" y="4498848"/>
            <a:ext cx="26517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11880" y="4544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•  优惠券模板管理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29000" y="5029200"/>
            <a:ext cx="26517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11880" y="50749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•  RBAC 角色权限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29000" y="5559552"/>
            <a:ext cx="26517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11880" y="56052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•  文件上传管理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59" y="1463040"/>
            <a:ext cx="2651760" cy="6400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92239" y="15361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🚚 配送员端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59" y="2377440"/>
            <a:ext cx="26517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92239" y="24231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•  配送员登录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59" y="2907792"/>
            <a:ext cx="26517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92239" y="29535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•  任务列表查看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09359" y="3438144"/>
            <a:ext cx="26517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92239" y="348386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•  状态流转操作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9359" y="3968496"/>
            <a:ext cx="26517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92239" y="40142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•  签收拍照确认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09359" y="4498848"/>
            <a:ext cx="26517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92239" y="4544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•  空桶回收登记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09359" y="5029200"/>
            <a:ext cx="26517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92239" y="50749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•  配送记录追溯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89719" y="1463040"/>
            <a:ext cx="2651760" cy="64008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372599" y="15361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⚙ 公共服务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189719" y="2377440"/>
            <a:ext cx="26517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372599" y="24231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•  JWT 三身份认证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189719" y="2907792"/>
            <a:ext cx="26517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372599" y="29535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•  全局异常处理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89719" y="3438144"/>
            <a:ext cx="26517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372599" y="348386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•  API 文档 (Knife4j)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189719" y="3968496"/>
            <a:ext cx="26517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372599" y="40142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•  图片本地存储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189719" y="4498848"/>
            <a:ext cx="26517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372599" y="4544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•  统一响应格式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189719" y="5029200"/>
            <a:ext cx="26517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372599" y="50749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•  BCrypt 密码加密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F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3D62"/>
                </a:solidFill>
                <a:latin typeface="Microsoft YaHei"/>
              </a:defRPr>
            </a:pPr>
            <a:r>
              <a:t>数据库设计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泉到家 - 桶装水配送商城  |  让每一桶水准时送达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3D62"/>
                </a:solidFill>
                <a:latin typeface="Microsoft YaHei"/>
              </a:defRPr>
            </a:pPr>
            <a:r>
              <a:t>18张表（12核心 + 6扩展）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6CBF"/>
                </a:solidFill>
                <a:latin typeface="Microsoft YaHei"/>
              </a:defRPr>
            </a:pPr>
            <a:r>
              <a:t>核心业务表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Microsoft YaHei"/>
              </a:defRPr>
            </a:pPr>
            <a:r>
              <a:t>app_user — 商城用户（含桶持有数、积分余额）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614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Microsoft YaHei"/>
              </a:defRPr>
            </a:pPr>
            <a:r>
              <a:t>user_address — 收货地址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4553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Microsoft YaHei"/>
              </a:defRPr>
            </a:pPr>
            <a:r>
              <a:t>category — 商品分类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2958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Microsoft YaHei"/>
              </a:defRPr>
            </a:pPr>
            <a:r>
              <a:t>product — 商品（含桶押金、是否含桶）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1363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Microsoft YaHei"/>
              </a:defRPr>
            </a:pPr>
            <a:r>
              <a:t>cart_item — 购物车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976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Microsoft YaHei"/>
              </a:defRPr>
            </a:pPr>
            <a:r>
              <a:t>customer_order — 订单（含押金/优惠券/积分信息）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8172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Microsoft YaHei"/>
              </a:defRPr>
            </a:pPr>
            <a:r>
              <a:t>order_item — 订单明细（商品快照）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1920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6CBF"/>
                </a:solidFill>
                <a:latin typeface="Microsoft YaHei"/>
              </a:defRPr>
            </a:pPr>
            <a:r>
              <a:t>权限管理表 (RBAC)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23774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Microsoft YaHei"/>
              </a:defRPr>
            </a:pPr>
            <a:r>
              <a:t>admin_user — 管理员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27614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Microsoft YaHei"/>
              </a:defRPr>
            </a:pPr>
            <a:r>
              <a:t>admin_role — 角色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999" y="314553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Microsoft YaHei"/>
              </a:defRPr>
            </a:pPr>
            <a:r>
              <a:t>admin_menu — 菜单/权限项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352958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Microsoft YaHei"/>
              </a:defRPr>
            </a:pPr>
            <a:r>
              <a:t>admin_user_role — 管理员↔角色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391363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Microsoft YaHei"/>
              </a:defRPr>
            </a:pPr>
            <a:r>
              <a:t>admin_role_menu — 角色↔菜单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920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6CBF"/>
                </a:solidFill>
                <a:latin typeface="Microsoft YaHei"/>
              </a:defRPr>
            </a:pPr>
            <a:r>
              <a:t>扩展业务表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3774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Microsoft YaHei"/>
              </a:defRPr>
            </a:pPr>
            <a:r>
              <a:t>delivery_staff — 配送员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7614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Microsoft YaHei"/>
              </a:defRPr>
            </a:pPr>
            <a:r>
              <a:t>delivery_task — 配送任务（含空桶回收数）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14553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Microsoft YaHei"/>
              </a:defRPr>
            </a:pPr>
            <a:r>
              <a:t>coupon_template — 优惠券模板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52958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Microsoft YaHei"/>
              </a:defRPr>
            </a:pPr>
            <a:r>
              <a:t>user_coupon — 用户优惠券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91363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Microsoft YaHei"/>
              </a:defRPr>
            </a:pPr>
            <a:r>
              <a:t>user_points — 积分流水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Microsoft YaHei"/>
              </a:defRPr>
            </a:pPr>
            <a:r>
              <a:t>💡 关键设计：RBAC五表权限模型  |  订单快照机制（order_item冗余商品信息）  |  空桶押金模型（product→order→user三级追踪）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F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3D62"/>
                </a:solidFill>
                <a:latin typeface="Microsoft YaHei"/>
              </a:defRPr>
            </a:pPr>
            <a:r>
              <a:t>核心业务流程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泉到家 - 桶装水配送商城  |  让每一桶水准时送达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0F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5361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6CBF"/>
                </a:solidFill>
                <a:latin typeface="Microsoft YaHei"/>
              </a:defRPr>
            </a:pPr>
            <a:r>
              <a:t>用户下单流程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1920240"/>
            <a:ext cx="24688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6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08760" y="19659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Microsoft YaHei"/>
              </a:defRPr>
            </a:pPr>
            <a:r>
              <a:t>浏览商品 → 加入购物车 → 选择地址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1920240"/>
            <a:ext cx="24688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6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51960" y="19659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Microsoft YaHei"/>
              </a:defRPr>
            </a:pPr>
            <a:r>
              <a:t>选择优惠券 / 输入积分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1920240"/>
            <a:ext cx="24688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6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95160" y="19659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Microsoft YaHei"/>
              </a:defRPr>
            </a:pPr>
            <a:r>
              <a:t>系统计算：商品金额 + 桶押金 - 优惠券 - 积分 = 实付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1920240"/>
            <a:ext cx="24688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6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38360" y="19659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Microsoft YaHei"/>
              </a:defRPr>
            </a:pPr>
            <a:r>
              <a:t>提交订单 → 扣减库存 → 清空购物车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333756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3649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B8A6"/>
                </a:solidFill>
                <a:latin typeface="Microsoft YaHei"/>
              </a:defRPr>
            </a:pPr>
            <a:r>
              <a:t>配送履约流程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3749040"/>
            <a:ext cx="24688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08760" y="37947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Microsoft YaHei"/>
              </a:defRPr>
            </a:pPr>
            <a:r>
              <a:t>管理员确认订单 → 分配配送任务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0" y="3749040"/>
            <a:ext cx="24688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51960" y="37947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Microsoft YaHei"/>
              </a:defRPr>
            </a:pPr>
            <a:r>
              <a:t>配送员取件 (ASSIGNED → PICKED_UP)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3749040"/>
            <a:ext cx="24688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95160" y="37947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Microsoft YaHei"/>
              </a:defRPr>
            </a:pPr>
            <a:r>
              <a:t>配送中 (→ DELIVERING)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3749040"/>
            <a:ext cx="24688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38360" y="37947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Microsoft YaHei"/>
              </a:defRPr>
            </a:pPr>
            <a:r>
              <a:t>签收 + 空桶回收 (→ COMPLETED) → 用户积分到账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516636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51937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Microsoft YaHei"/>
              </a:defRPr>
            </a:pPr>
            <a:r>
              <a:t>营销闭环流程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71600" y="5577840"/>
            <a:ext cx="24688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508760" y="56235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Microsoft YaHei"/>
              </a:defRPr>
            </a:pPr>
            <a:r>
              <a:t>优惠券：模板创建 → 分发给用户 → 下单使用 → 标记已用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0" y="5577840"/>
            <a:ext cx="24688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51960" y="56235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Microsoft YaHei"/>
              </a:defRPr>
            </a:pPr>
            <a:r>
              <a:t>积分：消费1元 = 赚1分  |  100分 = 抵扣1元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0" y="5577840"/>
            <a:ext cx="24688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95160" y="56235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Microsoft YaHei"/>
              </a:defRPr>
            </a:pPr>
            <a:r>
              <a:t>下单时同时处理 积分消耗(本次使用) 和 积分赚取(订单完成)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F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3D62"/>
                </a:solidFill>
                <a:latin typeface="Microsoft YaHei"/>
              </a:defRPr>
            </a:pPr>
            <a:r>
              <a:t>RBAC 权限模型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泉到家 - 桶装水配送商城  |  让每一桶水准时送达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3D62"/>
                </a:solidFill>
                <a:latin typeface="Microsoft YaHei"/>
              </a:defRPr>
            </a:pPr>
            <a:r>
              <a:t>三层权限控制：管理员 → 角色 → 菜单权限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2194560" cy="640080"/>
          </a:xfrm>
          <a:prstGeom prst="roundRect">
            <a:avLst/>
          </a:prstGeom>
          <a:solidFill>
            <a:srgbClr val="0F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admin_user</a:t>
            </a:r>
            <a:br/>
            <a:r>
              <a:t>管理员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011680"/>
            <a:ext cx="2194560" cy="640080"/>
          </a:xfrm>
          <a:prstGeom prst="round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80" y="2103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admin_user_role</a:t>
            </a:r>
            <a:br/>
            <a:r>
              <a:t>N:M 关联表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2194560" cy="640080"/>
          </a:xfrm>
          <a:prstGeom prst="roundRect">
            <a:avLst/>
          </a:prstGeom>
          <a:solidFill>
            <a:srgbClr val="0F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2103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admin_role</a:t>
            </a:r>
            <a:br/>
            <a:r>
              <a:t>角色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2011680"/>
            <a:ext cx="2194560" cy="640080"/>
          </a:xfrm>
          <a:prstGeom prst="round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98280" y="2103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admin_role_menu</a:t>
            </a:r>
            <a:br/>
            <a:r>
              <a:t>N:M 关联表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108960"/>
            <a:ext cx="5852160" cy="6400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11880" y="320040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admin_menu (菜单/权限项)</a:t>
            </a:r>
            <a:br/>
            <a:r>
              <a:t>permission_code 如 "order:edit", "product:view"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4368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4748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87568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4748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8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4748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880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4748B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🔵 页面权限（type=1）：控制菜单可见性和路由访问  |  🟠 按钮权限（type=2）：控制 API 操作权限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3D62"/>
                </a:solidFill>
                <a:latin typeface="Microsoft YaHei"/>
              </a:defRPr>
            </a:pPr>
            <a:r>
              <a:t>权限校验流程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① @RequirePermission("order:edit") 注解  →  ② AuthInterceptor 拦截  →  ③ 从 JWT 中读取 permissions 集合  →  ④ 包含指定权限 → 放行 / 不包含 → 拒绝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Microsoft YaHei"/>
              </a:defRPr>
            </a:pPr>
            <a:r>
              <a:t>👑 默认角色：SUPER_ADMIN（超级管理员，拥有所有19项权限）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F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3D62"/>
                </a:solidFill>
                <a:latin typeface="Microsoft YaHei"/>
              </a:defRPr>
            </a:pPr>
            <a:r>
              <a:t>数据看板 2.0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泉到家 - 桶装水配送商城  |  让每一桶水准时送达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651760" cy="10058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6CBF"/>
                </a:solidFill>
                <a:latin typeface="Microsoft YaHei"/>
              </a:defRPr>
            </a:pPr>
            <a:r>
              <a:t>👥 1,234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商城用户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371600"/>
            <a:ext cx="2651760" cy="10058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80" y="15087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4B8A6"/>
                </a:solidFill>
                <a:latin typeface="Microsoft YaHei"/>
              </a:defRPr>
            </a:pPr>
            <a:r>
              <a:t>📦 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商品数量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371600"/>
            <a:ext cx="2651760" cy="10058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39" y="15087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9E0B"/>
                </a:solidFill>
                <a:latin typeface="Microsoft YaHei"/>
              </a:defRPr>
            </a:pPr>
            <a:r>
              <a:t>📂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39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商品分类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19" y="1371600"/>
            <a:ext cx="2651760" cy="10058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72599" y="15087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3D62"/>
                </a:solidFill>
                <a:latin typeface="Microsoft YaHei"/>
              </a:defRPr>
            </a:pPr>
            <a:r>
              <a:t>📋 892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599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订单总数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651760"/>
            <a:ext cx="2651760" cy="10058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0B981"/>
                </a:solidFill>
                <a:latin typeface="Microsoft YaHei"/>
              </a:defRPr>
            </a:pPr>
            <a:r>
              <a:t>📦 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246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今日新订单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9000" y="2651760"/>
            <a:ext cx="2651760" cy="10058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11880" y="2687657"/>
            <a:ext cx="228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0B981"/>
                </a:solidFill>
                <a:latin typeface="Microsoft YaHei"/>
              </a:defRPr>
            </a:pPr>
            <a:r>
              <a:rPr dirty="0"/>
              <a:t>💰 </a:t>
            </a:r>
            <a:r>
              <a:rPr lang="en-US" dirty="0"/>
              <a:t>     </a:t>
            </a:r>
            <a:r>
              <a:rPr dirty="0"/>
              <a:t>¥886.00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3246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rPr dirty="0" err="1"/>
              <a:t>今日销售额</a:t>
            </a:r>
            <a:endParaRPr dirty="0"/>
          </a:p>
        </p:txBody>
      </p:sp>
      <p:sp>
        <p:nvSpPr>
          <p:cNvPr id="26" name="Rounded Rectangle 25"/>
          <p:cNvSpPr/>
          <p:nvPr/>
        </p:nvSpPr>
        <p:spPr>
          <a:xfrm>
            <a:off x="6309359" y="2651760"/>
            <a:ext cx="2651760" cy="10058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39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0B981"/>
                </a:solidFill>
                <a:latin typeface="Microsoft YaHei"/>
              </a:defRPr>
            </a:pPr>
            <a:r>
              <a:t>⏳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39" y="3246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待处理订单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9719" y="2651760"/>
            <a:ext cx="2651760" cy="10058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72599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0B981"/>
                </a:solidFill>
                <a:latin typeface="Microsoft YaHei"/>
              </a:defRPr>
            </a:pPr>
            <a:r>
              <a:t>🚚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599" y="3246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配送中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931920"/>
            <a:ext cx="26517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3D62"/>
                </a:solidFill>
                <a:latin typeface="Microsoft YaHei"/>
              </a:defRPr>
            </a:pPr>
            <a:r>
              <a:t>近7日订单趋势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5720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📈 折线图 — 每日订单数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29000" y="3931920"/>
            <a:ext cx="26517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1188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3D62"/>
                </a:solidFill>
                <a:latin typeface="Microsoft YaHei"/>
              </a:defRPr>
            </a:pPr>
            <a:r>
              <a:t>订单状态分布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11880" y="45720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🥧 饼图 — 待确认/待配送/已完成/已取消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59" y="3931920"/>
            <a:ext cx="26517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39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3D62"/>
                </a:solidFill>
                <a:latin typeface="Microsoft YaHei"/>
              </a:defRPr>
            </a:pPr>
            <a:r>
              <a:t>商品分类 TOP5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39" y="45720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📊 饼图 — 各分类商品占比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89719" y="3931920"/>
            <a:ext cx="26517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372599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3D62"/>
                </a:solidFill>
                <a:latin typeface="Microsoft YaHei"/>
              </a:defRPr>
            </a:pPr>
            <a:r>
              <a:t>库存预警列表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72599" y="45720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⚠ 表格 — stock &lt; 10 高亮标红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F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3D62"/>
                </a:solidFill>
                <a:latin typeface="Microsoft YaHei"/>
              </a:defRPr>
            </a:pPr>
            <a:r>
              <a:t>项目亮点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泉到家 - 桶装水配送商城  |  让每一桶水准时送达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3383280" cy="54864"/>
          </a:xfrm>
          <a:prstGeom prst="rect">
            <a:avLst/>
          </a:prstGeom>
          <a:solidFill>
            <a:srgbClr val="0F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6459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6CBF"/>
                </a:solidFill>
                <a:latin typeface="Microsoft YaHei"/>
              </a:defRPr>
            </a:pPr>
            <a:r>
              <a:t>🔐  完整 RBAC 权限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5表权限模型，支持细粒度到</a:t>
            </a:r>
            <a:br/>
            <a:r>
              <a:t>按钮级别的操作权限控制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37160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59" y="1371600"/>
            <a:ext cx="338328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79" y="16459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B8A6"/>
                </a:solidFill>
                <a:latin typeface="Microsoft YaHei"/>
              </a:defRPr>
            </a:pPr>
            <a:r>
              <a:t>🪣  空桶回收闭环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2860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桶装水行业特有：押金预收</a:t>
            </a:r>
            <a:br/>
            <a:r>
              <a:t>→配送追踪→回收扣减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37160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1371600"/>
            <a:ext cx="3383280" cy="54864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0" y="16459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3D62"/>
                </a:solidFill>
                <a:latin typeface="Microsoft YaHei"/>
              </a:defRPr>
            </a:pPr>
            <a:r>
              <a:t>📦  配送员独立模块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2860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第三类用户角色，完整 JWT</a:t>
            </a:r>
            <a:br/>
            <a:r>
              <a:t>认证链路，任务状态流转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3192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3931920"/>
            <a:ext cx="33832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42062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Microsoft YaHei"/>
              </a:defRPr>
            </a:pPr>
            <a:r>
              <a:t>🎫  优惠券全生命周期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84632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模板创建→分发→领取→</a:t>
            </a:r>
            <a:br/>
            <a:r>
              <a:t>使用→过期检测，完整闭环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393192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80559" y="3931920"/>
            <a:ext cx="3383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79" y="42062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Microsoft YaHei"/>
              </a:defRPr>
            </a:pPr>
            <a:r>
              <a:t>⭐  积分赚花一体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79" y="484632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消费1元=1分，100分=1元</a:t>
            </a:r>
            <a:br/>
            <a:r>
              <a:t>下单时同时处理消耗和赚取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93192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29600" y="3931920"/>
            <a:ext cx="3383280" cy="54864"/>
          </a:xfrm>
          <a:prstGeom prst="rect">
            <a:avLst/>
          </a:prstGeom>
          <a:solidFill>
            <a:srgbClr val="0F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03920" y="42062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6CBF"/>
                </a:solidFill>
                <a:latin typeface="Microsoft YaHei"/>
              </a:defRPr>
            </a:pPr>
            <a:r>
              <a:t>📊  ECharts 可视化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84632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实时数据看板，折线图/饼图</a:t>
            </a:r>
            <a:br/>
            <a:r>
              <a:t>库存预警自动高亮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F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3D62"/>
                </a:solidFill>
                <a:latin typeface="Microsoft YaHei"/>
              </a:defRPr>
            </a:pPr>
            <a:r>
              <a:t>部署与运行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泉到家 - 桶装水配送商城  |  让每一桶水准时送达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3035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6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6CBF"/>
                </a:solidFill>
                <a:latin typeface="Microsoft YaHei"/>
              </a:defRPr>
            </a:pPr>
            <a:r>
              <a:t>🔧 后端启动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Microsoft YaHei"/>
              </a:defRPr>
            </a:pPr>
            <a:r>
              <a:t>cd backend</a:t>
            </a:r>
            <a:br/>
            <a:r>
              <a:t>mvn spring-boot:run</a:t>
            </a:r>
            <a:br/>
            <a:br/>
            <a:r>
              <a:t>→ API 服务: http://localhost:8080</a:t>
            </a:r>
            <a:br/>
            <a:r>
              <a:t>→ API 文档: http://localhost:8080/doc.html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63040"/>
            <a:ext cx="53035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B8A6"/>
                </a:solidFill>
                <a:latin typeface="Microsoft YaHei"/>
              </a:defRPr>
            </a:pPr>
            <a:r>
              <a:t>🎨 前端启动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2860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Microsoft YaHei"/>
              </a:defRPr>
            </a:pPr>
            <a:r>
              <a:t>cd Web</a:t>
            </a:r>
            <a:br/>
            <a:r>
              <a:t>npm install</a:t>
            </a:r>
            <a:br/>
            <a:r>
              <a:t>npm run dev</a:t>
            </a:r>
            <a:br/>
            <a:br/>
            <a:r>
              <a:t>→ 用户端: http://localhost:5173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3D62"/>
                </a:solidFill>
                <a:latin typeface="Microsoft YaHei"/>
              </a:defRPr>
            </a:pPr>
            <a:r>
              <a:t>🔑 默认账号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80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角色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480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用户名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480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密码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4480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入口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892040"/>
            <a:ext cx="10972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9103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管理员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9103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9103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admin123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49103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http://localhost:5173/admin/login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303520"/>
            <a:ext cx="1097280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53218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配送员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53218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delivery01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3218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admin123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53218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http://localhost:5173/delivery/login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715000"/>
            <a:ext cx="10972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573328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用户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573328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自行注册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73328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573328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t>http://localhost:5173/login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274320"/>
            <a:ext cx="914400" cy="914400"/>
          </a:xfrm>
          <a:prstGeom prst="ellipse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72800" y="5029200"/>
            <a:ext cx="1645920" cy="1645920"/>
          </a:xfrm>
          <a:prstGeom prst="ellipse">
            <a:avLst/>
          </a:prstGeom>
          <a:solidFill>
            <a:srgbClr val="B9D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0" y="457200"/>
            <a:ext cx="731520" cy="731520"/>
          </a:xfrm>
          <a:prstGeom prst="ellipse">
            <a:avLst/>
          </a:prstGeom>
          <a:solidFill>
            <a:srgbClr val="D2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B8A6"/>
                </a:solidFill>
                <a:latin typeface="Microsoft YaHei"/>
              </a:defRPr>
            </a:pPr>
            <a:r>
              <a:t>✅ 已完成交付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D6E5"/>
                </a:solidFill>
                <a:latin typeface="Microsoft YaHei"/>
              </a:defRPr>
            </a:pPr>
            <a:r>
              <a:t>用户商城  ·  管理后台  ·  配送履约  ·  数据看板  ·  优惠券系统  ·  积分系统  ·  空桶回收闭环  ·  RBAC权限管理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Microsoft YaHei"/>
              </a:defRPr>
            </a:pPr>
            <a:r>
              <a:t>📅 版本路线图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V1.1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41148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D6E5"/>
                </a:solidFill>
                <a:latin typeface="Microsoft YaHei"/>
              </a:defRPr>
            </a:pPr>
            <a:r>
              <a:t>性能优化、按需加载、接口限流、Redis缓存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54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V2.0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47548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D6E5"/>
                </a:solidFill>
                <a:latin typeface="Microsoft YaHei"/>
              </a:defRPr>
            </a:pPr>
            <a:r>
              <a:t>微信小程序 (uni-app)、微信支付、地图导航、短信通知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394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V2.1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53949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D6E5"/>
                </a:solidFill>
                <a:latin typeface="Microsoft YaHei"/>
              </a:defRPr>
            </a:pPr>
            <a:r>
              <a:t>分布式部署、CI/CD流水线、容器化 (Docker)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让公司和家庭的每一桶水，都能准时送到门口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1025</Words>
  <Application>Microsoft Office PowerPoint</Application>
  <PresentationFormat>宽屏</PresentationFormat>
  <Paragraphs>239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焕麟 陈</cp:lastModifiedBy>
  <cp:revision>7</cp:revision>
  <dcterms:created xsi:type="dcterms:W3CDTF">2013-01-27T09:14:16Z</dcterms:created>
  <dcterms:modified xsi:type="dcterms:W3CDTF">2026-06-22T13:16:40Z</dcterms:modified>
  <cp:category/>
</cp:coreProperties>
</file>